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4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909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2" charset="0"/>
                <a:ea typeface="Georgia" pitchFamily="34" charset="-122"/>
                <a:cs typeface="Georgia" pitchFamily="34" charset="-120"/>
              </a:rPr>
              <a:t>Multi-Agent Genealogical</a:t>
            </a:r>
            <a:endParaRPr lang="en-US" sz="3600" dirty="0">
              <a:latin typeface="Raleway" pitchFamily="2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2" charset="0"/>
                <a:ea typeface="Georgia" pitchFamily="34" charset="-122"/>
                <a:cs typeface="Georgia" pitchFamily="34" charset="-120"/>
              </a:rPr>
              <a:t>Research System</a:t>
            </a:r>
            <a:endParaRPr lang="en-US" sz="3600" dirty="0">
              <a:latin typeface="Raleway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2423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4A843"/>
                </a:solidFill>
                <a:latin typeface="Raleway" pitchFamily="2" charset="0"/>
                <a:ea typeface="Georgia" pitchFamily="34" charset="-122"/>
                <a:cs typeface="Georgia" pitchFamily="34" charset="-120"/>
              </a:rPr>
              <a:t>with Adversarial Critique and DNA Verification</a:t>
            </a:r>
            <a:endParaRPr lang="en-US" sz="1600" dirty="0">
              <a:latin typeface="Raleway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KAITLIN MOORE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F8C9B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Track A  ·  94815 Agentic Technologies </a:t>
            </a:r>
            <a:endParaRPr lang="en-US" sz="1100" dirty="0">
              <a:latin typeface="Raleway" pitchFamily="2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F8C9B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Prof. Anand S. Rao</a:t>
            </a:r>
            <a:endParaRPr lang="en-US" sz="1100" dirty="0">
              <a:latin typeface="Raleway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Raleway" pitchFamily="2" charset="0"/>
                <a:ea typeface="Georgia" pitchFamily="34" charset="-122"/>
                <a:cs typeface="Georgia" pitchFamily="34" charset="-120"/>
              </a:rPr>
              <a:t>Why This Needs Agents</a:t>
            </a:r>
            <a:endParaRPr lang="en-US" sz="2600" dirty="0">
              <a:latin typeface="Raleway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2A152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8503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trees contain errors: wrong dates, false merges, unsourced claims from other researchers. A single LLM can't critique its own conclusions. It needs structural separation between proposing and attacking.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572768" cy="1097280"/>
          </a:xfrm>
          <a:prstGeom prst="roundRect">
            <a:avLst>
              <a:gd name="adj" fmla="val 4167"/>
            </a:avLst>
          </a:prstGeom>
          <a:solidFill>
            <a:srgbClr val="1A3028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572768" cy="20116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>
              <a:latin typeface="Raleway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56362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Record Scout</a:t>
            </a:r>
            <a:endParaRPr lang="en-US" sz="1000" dirty="0">
              <a:latin typeface="Montserrat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792" y="2176272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GEDCOM + FindAGrave</a:t>
            </a:r>
            <a:endParaRPr lang="en-US" sz="750" dirty="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+ Wikidata + WikiTree</a:t>
            </a:r>
            <a:endParaRPr lang="en-US" sz="750" dirty="0">
              <a:latin typeface="Montserrat" panose="000005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03120" y="19202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9B"/>
                </a:solidFill>
                <a:latin typeface="Montserrat" panose="00000500000000000000" pitchFamily="2" charset="0"/>
              </a:rPr>
              <a:t>→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94560" y="1554480"/>
            <a:ext cx="1572768" cy="1097280"/>
          </a:xfrm>
          <a:prstGeom prst="roundRect">
            <a:avLst>
              <a:gd name="adj" fmla="val 4167"/>
            </a:avLst>
          </a:prstGeom>
          <a:solidFill>
            <a:srgbClr val="1A2A3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94560" y="1554480"/>
            <a:ext cx="1572768" cy="201168"/>
          </a:xfrm>
          <a:prstGeom prst="rect">
            <a:avLst/>
          </a:prstGeom>
          <a:solidFill>
            <a:srgbClr val="2C8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94560" y="156362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800" dirty="0">
              <a:latin typeface="Raleway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94560" y="181051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Synthesizer</a:t>
            </a:r>
            <a:endParaRPr lang="en-US" sz="1000" dirty="0">
              <a:latin typeface="Montserrat" panose="000005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67712" y="2176272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750" dirty="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disambiguation</a:t>
            </a:r>
            <a:endParaRPr lang="en-US" sz="750" dirty="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+ source citation</a:t>
            </a:r>
            <a:endParaRPr lang="en-US" sz="750" dirty="0">
              <a:latin typeface="Montserrat" panose="000005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49040" y="19202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9B"/>
                </a:solidFill>
                <a:latin typeface="Montserrat" panose="00000500000000000000" pitchFamily="2" charset="0"/>
              </a:rPr>
              <a:t>→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840480" y="1554480"/>
            <a:ext cx="1572768" cy="1097280"/>
          </a:xfrm>
          <a:prstGeom prst="roundRect">
            <a:avLst>
              <a:gd name="adj" fmla="val 4167"/>
            </a:avLst>
          </a:prstGeom>
          <a:solidFill>
            <a:srgbClr val="1A2A3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40480" y="1554480"/>
            <a:ext cx="1572768" cy="201168"/>
          </a:xfrm>
          <a:prstGeom prst="rect">
            <a:avLst/>
          </a:prstGeom>
          <a:solidFill>
            <a:srgbClr val="2C8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0" y="156362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800" dirty="0">
              <a:latin typeface="Raleway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40480" y="181051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000" dirty="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Hypothesizer</a:t>
            </a:r>
            <a:endParaRPr lang="en-US" sz="1000" dirty="0">
              <a:latin typeface="Montserrat" panose="00000500000000000000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913632" y="2176272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Evidence chains</a:t>
            </a:r>
            <a:endParaRPr lang="en-US" sz="750" dirty="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confidence scores</a:t>
            </a:r>
            <a:endParaRPr lang="en-US" sz="750" dirty="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stated weaknesses</a:t>
            </a:r>
            <a:endParaRPr lang="en-US" sz="750" dirty="0">
              <a:latin typeface="Montserrat" panose="000005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94960" y="19202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9B"/>
                </a:solidFill>
                <a:latin typeface="Montserrat" panose="00000500000000000000" pitchFamily="2" charset="0"/>
              </a:rPr>
              <a:t>→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0" y="1554480"/>
            <a:ext cx="1572768" cy="1097280"/>
          </a:xfrm>
          <a:prstGeom prst="roundRect">
            <a:avLst>
              <a:gd name="adj" fmla="val 4167"/>
            </a:avLst>
          </a:prstGeom>
          <a:solidFill>
            <a:srgbClr val="2A152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0" y="1554480"/>
            <a:ext cx="1572768" cy="2011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156362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800" dirty="0">
              <a:latin typeface="Raleway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0" y="181051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Adversarial</a:t>
            </a:r>
            <a:endParaRPr lang="en-US" sz="1000" dirty="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000" dirty="0">
              <a:latin typeface="Montserrat" panose="000005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59552" y="2176272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Tier 1 → geo → LLM</a:t>
            </a:r>
            <a:endParaRPr lang="en-US" sz="750" dirty="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isolated from</a:t>
            </a:r>
            <a:endParaRPr lang="en-US" sz="750" dirty="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reasoning chain</a:t>
            </a:r>
            <a:endParaRPr lang="en-US" sz="750" dirty="0">
              <a:latin typeface="Montserrat" panose="000005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40880" y="19202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9B"/>
                </a:solidFill>
                <a:latin typeface="Montserrat" panose="00000500000000000000" pitchFamily="2" charset="0"/>
              </a:rPr>
              <a:t>→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132320" y="1554480"/>
            <a:ext cx="1572768" cy="1097280"/>
          </a:xfrm>
          <a:prstGeom prst="roundRect">
            <a:avLst>
              <a:gd name="adj" fmla="val 4167"/>
            </a:avLst>
          </a:prstGeom>
          <a:solidFill>
            <a:srgbClr val="201A3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32320" y="1554480"/>
            <a:ext cx="1572768" cy="201168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>
              <a:latin typeface="Raleway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32320" y="156362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32320" y="181051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1000" dirty="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000" dirty="0">
              <a:latin typeface="Montserrat" panose="00000500000000000000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205472" y="2176272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Shared cM lookup</a:t>
            </a:r>
            <a:endParaRPr lang="en-US" sz="750" dirty="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cross-reference vs.</a:t>
            </a:r>
            <a:endParaRPr lang="en-US" sz="750" dirty="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documentary tree</a:t>
            </a:r>
            <a:endParaRPr lang="en-US" sz="750" dirty="0">
              <a:latin typeface="Montserrat" panose="00000500000000000000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096512" y="2761488"/>
            <a:ext cx="1097280" cy="438912"/>
          </a:xfrm>
          <a:prstGeom prst="hexagon">
            <a:avLst/>
          </a:prstGeom>
          <a:solidFill>
            <a:srgbClr val="2A2510"/>
          </a:solidFill>
          <a:ln w="1905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096512" y="27980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43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Isolation Filter</a:t>
            </a:r>
            <a:endParaRPr lang="en-US" sz="800" dirty="0">
              <a:latin typeface="Montserrat" panose="00000500000000000000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078224" y="298938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8C9B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strips reasoning</a:t>
            </a:r>
            <a:endParaRPr lang="en-US" sz="700" dirty="0">
              <a:latin typeface="Montserrat" panose="00000500000000000000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48640" y="3605723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1A204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48640" y="3605723"/>
            <a:ext cx="45720" cy="10058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85800" y="3678875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Confirmation Bias Prevention</a:t>
            </a:r>
            <a:endParaRPr lang="en-US" sz="1000" dirty="0">
              <a:latin typeface="Montserrat" panose="00000500000000000000" pitchFamily="2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85800" y="3898331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The Critic never sees the Hypothesizer's</a:t>
            </a:r>
            <a:endParaRPr lang="en-US" sz="8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reasoning (enforced by a whitelist filter in</a:t>
            </a:r>
            <a:endParaRPr lang="en-US" sz="8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Code). A/B experiment: isolation preserved</a:t>
            </a:r>
            <a:endParaRPr lang="en-US" sz="8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performance; reasoning visibility doubled</a:t>
            </a:r>
            <a:endParaRPr lang="en-US" sz="8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linguistic leakage (13 vs 7).</a:t>
            </a:r>
            <a:endParaRPr lang="en-US" sz="800" dirty="0">
              <a:latin typeface="Montserrat" panose="00000500000000000000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383280" y="3605723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1A204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383280" y="3605723"/>
            <a:ext cx="45720" cy="10058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520440" y="3678875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Deterministic &amp; Probabilistic</a:t>
            </a:r>
            <a:endParaRPr lang="en-US" sz="1000" dirty="0">
              <a:latin typeface="Montserrat" panose="00000500000000000000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520440" y="3898331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Tier 1 rule checks (impossible dates,</a:t>
            </a:r>
            <a:endParaRPr lang="en-US" sz="8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biological constraints) run before the LLM</a:t>
            </a:r>
            <a:endParaRPr lang="en-US" sz="8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and cannot be overridden. If a parent is</a:t>
            </a:r>
            <a:endParaRPr lang="en-US" sz="8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born after their child, no amount of LLM</a:t>
            </a:r>
            <a:endParaRPr lang="en-US" sz="8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reasoning changes the verdict.</a:t>
            </a:r>
            <a:endParaRPr lang="en-US" sz="800" dirty="0">
              <a:latin typeface="Montserrat" panose="00000500000000000000" pitchFamily="2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217920" y="3605723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1A204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217920" y="3605723"/>
            <a:ext cx="45720" cy="10058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355080" y="3678875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Evidence Chains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55080" y="3898331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cites its source. The Critic can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Synthesizer's disambiguation.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Hypothesizer states its own weaknesses.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a black box with each stage's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independently inspectable.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Raleway" pitchFamily="2" charset="0"/>
                <a:ea typeface="Georgia" pitchFamily="34" charset="-122"/>
                <a:cs typeface="Georgia" pitchFamily="34" charset="-120"/>
              </a:rPr>
              <a:t>What the System Does</a:t>
            </a:r>
            <a:endParaRPr lang="en-US" sz="2600" dirty="0">
              <a:latin typeface="Raleway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2743200" cy="1554480"/>
          </a:xfrm>
          <a:prstGeom prst="roundRect">
            <a:avLst>
              <a:gd name="adj" fmla="val 2941"/>
            </a:avLst>
          </a:prstGeom>
          <a:solidFill>
            <a:srgbClr val="2A152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2743200" cy="3657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  <a:latin typeface="Montserrat" panose="00000500000000000000" pitchFamily="2" charset="0"/>
              </a:rPr>
              <a:t>🔍  </a:t>
            </a:r>
            <a:r>
              <a:rPr lang="en-US" sz="1200" b="1" dirty="0">
                <a:solidFill>
                  <a:srgbClr val="C0392B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Query Mode</a:t>
            </a:r>
            <a:endParaRPr lang="en-US" sz="1300" dirty="0">
              <a:latin typeface="Montserrat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9B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"Who are the parents of James Moore?"</a:t>
            </a:r>
            <a:endParaRPr lang="en-US" sz="850" dirty="0">
              <a:latin typeface="Montserrat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Searches GEDCOM + 3 external sources.</a:t>
            </a:r>
            <a:endParaRPr lang="en-US" sz="85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Proposes relationships with evidence.</a:t>
            </a:r>
            <a:endParaRPr lang="en-US" sz="85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Critic attacks independently.</a:t>
            </a:r>
            <a:endParaRPr lang="en-US" sz="85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Multi-source citations raise confidence</a:t>
            </a:r>
            <a:endParaRPr lang="en-US" sz="85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from 0.72 → 0.82 on JFK's father.</a:t>
            </a:r>
            <a:endParaRPr lang="en-US" sz="850" dirty="0">
              <a:latin typeface="Montserrat" panose="000005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83280" y="822960"/>
            <a:ext cx="2743200" cy="1554480"/>
          </a:xfrm>
          <a:prstGeom prst="roundRect">
            <a:avLst>
              <a:gd name="adj" fmla="val 2941"/>
            </a:avLst>
          </a:prstGeom>
          <a:solidFill>
            <a:srgbClr val="2A251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83280" y="822960"/>
            <a:ext cx="27432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93008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A843"/>
                </a:solidFill>
                <a:latin typeface="Montserrat" panose="00000500000000000000" pitchFamily="2" charset="0"/>
              </a:rPr>
              <a:t>🛡️  </a:t>
            </a:r>
            <a:r>
              <a:rPr lang="en-US" sz="1200" b="1" dirty="0">
                <a:solidFill>
                  <a:srgbClr val="D4A843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Audit Mode</a:t>
            </a:r>
            <a:endParaRPr lang="en-US" sz="1300" dirty="0">
              <a:latin typeface="Montserrat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93008" y="11704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9B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"Audit 3 generations of my family tree"</a:t>
            </a:r>
            <a:endParaRPr lang="en-US" sz="850" dirty="0">
              <a:latin typeface="Montserrat" panose="000005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93008" y="13716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Extracts subtree, checks every link.</a:t>
            </a:r>
            <a:endParaRPr lang="en-US" sz="85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Pass 1: deterministic (9 sec, no LLM).</a:t>
            </a:r>
            <a:endParaRPr lang="en-US" sz="85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Pass 2: deep LLM audit on flagged links.</a:t>
            </a:r>
            <a:endParaRPr lang="en-US" sz="85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Found 3 Irish immigration flags in</a:t>
            </a:r>
            <a:endParaRPr lang="en-US" sz="85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Moore tree. Correct behavior, not false positives.</a:t>
            </a:r>
            <a:endParaRPr lang="en-US" sz="850" dirty="0">
              <a:latin typeface="Montserrat" panose="000005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822960"/>
            <a:ext cx="2743200" cy="1554480"/>
          </a:xfrm>
          <a:prstGeom prst="roundRect">
            <a:avLst>
              <a:gd name="adj" fmla="val 2941"/>
            </a:avLst>
          </a:prstGeom>
          <a:solidFill>
            <a:srgbClr val="1A2A3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822960"/>
            <a:ext cx="2743200" cy="36576"/>
          </a:xfrm>
          <a:prstGeom prst="rect">
            <a:avLst/>
          </a:prstGeom>
          <a:solidFill>
            <a:srgbClr val="2C8C99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27648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8C99"/>
                </a:solidFill>
                <a:latin typeface="Montserrat" panose="00000500000000000000" pitchFamily="2" charset="0"/>
              </a:rPr>
              <a:t>🧬  </a:t>
            </a:r>
            <a:r>
              <a:rPr lang="en-US" sz="1200" b="1" dirty="0">
                <a:solidFill>
                  <a:srgbClr val="2C8C99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Gap Detection</a:t>
            </a:r>
            <a:endParaRPr lang="en-US" sz="1300" dirty="0">
              <a:latin typeface="Montserrat" panose="000005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27648" y="11704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9B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"Find missing connections in my tree"</a:t>
            </a:r>
            <a:endParaRPr lang="en-US" sz="850" dirty="0">
              <a:latin typeface="Montserrat" panose="000005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27648" y="13716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Scans 8,759 people for missing parents.</a:t>
            </a:r>
            <a:endParaRPr lang="en-US" sz="85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Scores by surname, age, geography.</a:t>
            </a:r>
            <a:endParaRPr lang="en-US" sz="85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Found 70 potential broken links.</a:t>
            </a:r>
            <a:endParaRPr lang="en-US" sz="85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Top candidates scored &gt;0.9.</a:t>
            </a:r>
            <a:endParaRPr lang="en-US" sz="85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Pipeline correctly assessed as unverified.</a:t>
            </a:r>
            <a:endParaRPr lang="en-US" sz="850" dirty="0">
              <a:latin typeface="Montserrat" panose="000005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26966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Tested across four datasets:</a:t>
            </a:r>
            <a:endParaRPr lang="en-US" sz="1100" dirty="0">
              <a:latin typeface="Montserrat" panose="00000500000000000000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2925200"/>
            <a:ext cx="2057400" cy="438912"/>
          </a:xfrm>
          <a:prstGeom prst="roundRect">
            <a:avLst>
              <a:gd name="adj" fmla="val 8333"/>
            </a:avLst>
          </a:prstGeom>
          <a:solidFill>
            <a:srgbClr val="152515"/>
          </a:solidFill>
          <a:ln w="952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1792" y="2943488"/>
            <a:ext cx="1947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Kennedy Family</a:t>
            </a:r>
            <a:endParaRPr lang="en-US" sz="900" dirty="0">
              <a:latin typeface="Montserrat" panose="00000500000000000000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1792" y="3108080"/>
            <a:ext cx="1947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70 people · ✓ accept (0.82)</a:t>
            </a:r>
            <a:endParaRPr lang="en-US" sz="800" dirty="0">
              <a:latin typeface="Montserrat" panose="00000500000000000000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660904" y="2925200"/>
            <a:ext cx="2057400" cy="438912"/>
          </a:xfrm>
          <a:prstGeom prst="roundRect">
            <a:avLst>
              <a:gd name="adj" fmla="val 8333"/>
            </a:avLst>
          </a:prstGeom>
          <a:solidFill>
            <a:srgbClr val="152515"/>
          </a:solidFill>
          <a:ln w="952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734056" y="2943488"/>
            <a:ext cx="1947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Moore (own tree)</a:t>
            </a:r>
            <a:endParaRPr lang="en-US" sz="900" dirty="0">
              <a:latin typeface="Montserrat" panose="000005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34056" y="3108080"/>
            <a:ext cx="1947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8,759 people · ✓ accept (0.82)</a:t>
            </a:r>
            <a:endParaRPr lang="en-US" sz="800" dirty="0">
              <a:latin typeface="Montserrat" panose="00000500000000000000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73168" y="2925200"/>
            <a:ext cx="2057400" cy="438912"/>
          </a:xfrm>
          <a:prstGeom prst="roundRect">
            <a:avLst>
              <a:gd name="adj" fmla="val 8333"/>
            </a:avLst>
          </a:prstGeom>
          <a:solidFill>
            <a:srgbClr val="152515"/>
          </a:solidFill>
          <a:ln w="952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46320" y="2943488"/>
            <a:ext cx="1947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Queen Victoria</a:t>
            </a:r>
            <a:endParaRPr lang="en-US" sz="900" dirty="0">
              <a:latin typeface="Montserrat" panose="000005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46320" y="3108080"/>
            <a:ext cx="1947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4,683 people · ✓ accept (0.78)</a:t>
            </a:r>
            <a:endParaRPr lang="en-US" sz="800" dirty="0">
              <a:latin typeface="Montserrat" panose="00000500000000000000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885432" y="2925200"/>
            <a:ext cx="2057400" cy="438912"/>
          </a:xfrm>
          <a:prstGeom prst="roundRect">
            <a:avLst>
              <a:gd name="adj" fmla="val 8333"/>
            </a:avLst>
          </a:prstGeom>
          <a:solidFill>
            <a:srgbClr val="152515"/>
          </a:solidFill>
          <a:ln w="952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58584" y="2943488"/>
            <a:ext cx="1947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Habsburg Dynasty</a:t>
            </a:r>
            <a:endParaRPr lang="en-US" sz="900" dirty="0">
              <a:latin typeface="Montserrat" panose="00000500000000000000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58584" y="3108080"/>
            <a:ext cx="1947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34,020 · German · ✓ accept (0.85)</a:t>
            </a:r>
            <a:endParaRPr lang="en-US" sz="800" dirty="0">
              <a:latin typeface="Montserrat" panose="00000500000000000000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3473840"/>
            <a:ext cx="8229600" cy="475488"/>
          </a:xfrm>
          <a:prstGeom prst="roundRect">
            <a:avLst>
              <a:gd name="adj" fmla="val 7692"/>
            </a:avLst>
          </a:prstGeom>
          <a:solidFill>
            <a:srgbClr val="2A2510"/>
          </a:solidFill>
          <a:ln w="9525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1520" y="3510416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000" dirty="0">
                <a:solidFill>
                  <a:srgbClr val="CADCFC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The Critic independently identified that GEDCOM cross-references are circular evidence — the same concern the Hypothesizer raised — without ever seeing its reasoning. Multi-source corroboration (WikiTree confirming the maiden name Wikidata missed) resolved this, moving the father from flag_uncertain to accept.</a:t>
            </a:r>
            <a:endParaRPr lang="en-US" sz="1000" dirty="0">
              <a:latin typeface="Montserrat" panose="00000500000000000000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8640" y="4383665"/>
            <a:ext cx="2743200" cy="347472"/>
          </a:xfrm>
          <a:prstGeom prst="roundRect">
            <a:avLst>
              <a:gd name="adj" fmla="val 10526"/>
            </a:avLst>
          </a:prstGeom>
          <a:solidFill>
            <a:srgbClr val="1A204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4383665"/>
            <a:ext cx="36576" cy="34747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8368" y="4420241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Tier 1 — Deterministic</a:t>
            </a:r>
            <a:endParaRPr lang="en-US" sz="900" dirty="0">
              <a:latin typeface="Montserrat" panose="00000500000000000000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606040" y="4383665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3/3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383280" y="4383665"/>
            <a:ext cx="2743200" cy="347472"/>
          </a:xfrm>
          <a:prstGeom prst="roundRect">
            <a:avLst>
              <a:gd name="adj" fmla="val 10526"/>
            </a:avLst>
          </a:prstGeom>
          <a:solidFill>
            <a:srgbClr val="1A204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383280" y="4383665"/>
            <a:ext cx="36576" cy="34747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493008" y="4420241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Tier 2 — Plausible but Wrong</a:t>
            </a:r>
            <a:endParaRPr lang="en-US" sz="900" dirty="0">
              <a:latin typeface="Montserrat" panose="00000500000000000000" pitchFamily="2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495544" y="4383665"/>
            <a:ext cx="539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3/3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17920" y="4383665"/>
            <a:ext cx="2743200" cy="347472"/>
          </a:xfrm>
          <a:prstGeom prst="roundRect">
            <a:avLst>
              <a:gd name="adj" fmla="val 10526"/>
            </a:avLst>
          </a:prstGeom>
          <a:solidFill>
            <a:srgbClr val="1A204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217920" y="4383665"/>
            <a:ext cx="36576" cy="34747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27648" y="4420241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Tier 3 — Genuinely Ambiguous</a:t>
            </a:r>
            <a:endParaRPr lang="en-US" sz="900" dirty="0">
              <a:latin typeface="Montserrat" panose="00000500000000000000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202168" y="4383665"/>
            <a:ext cx="667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2/2</a:t>
            </a:r>
            <a:endParaRPr lang="en-US" sz="160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C326B5-E00E-9444-C142-21EAB186D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25" y="241200"/>
            <a:ext cx="3870909" cy="2606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09B0C4-BA71-3A58-C23C-23693C4B8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758" y="254977"/>
            <a:ext cx="4316990" cy="2585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AEADE1-A68B-083B-C8F5-D562EC956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491" y="3063571"/>
            <a:ext cx="5963728" cy="184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784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505</Words>
  <Application>Microsoft Office PowerPoint</Application>
  <PresentationFormat>On-screen Show (16:9)</PresentationFormat>
  <Paragraphs>101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Montserrat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Genealogical Research System</dc:title>
  <dc:subject>PptxGenJS Presentation</dc:subject>
  <dc:creator>Kaitlin Moore</dc:creator>
  <cp:lastModifiedBy>Kaitlin Moore</cp:lastModifiedBy>
  <cp:revision>2</cp:revision>
  <dcterms:created xsi:type="dcterms:W3CDTF">2026-04-23T18:09:46Z</dcterms:created>
  <dcterms:modified xsi:type="dcterms:W3CDTF">2026-04-23T19:53:45Z</dcterms:modified>
</cp:coreProperties>
</file>